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2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7" r:id="rId13"/>
    <p:sldId id="292" r:id="rId14"/>
    <p:sldId id="298" r:id="rId15"/>
    <p:sldId id="271" r:id="rId16"/>
    <p:sldId id="273" r:id="rId17"/>
    <p:sldId id="295" r:id="rId18"/>
    <p:sldId id="296" r:id="rId19"/>
    <p:sldId id="275" r:id="rId20"/>
    <p:sldId id="294" r:id="rId21"/>
  </p:sldIdLst>
  <p:sldSz cx="9144000" cy="5143500" type="screen16x9"/>
  <p:notesSz cx="6858000" cy="9144000"/>
  <p:embeddedFontLst>
    <p:embeddedFont>
      <p:font typeface="Inter" panose="020B0604020202020204" charset="0"/>
      <p:regular r:id="rId23"/>
      <p:bold r:id="rId24"/>
      <p:italic r:id="rId25"/>
      <p:boldItalic r:id="rId26"/>
    </p:embeddedFont>
    <p:embeddedFont>
      <p:font typeface="Inter Medium" panose="020B0604020202020204" charset="0"/>
      <p:regular r:id="rId27"/>
      <p:bold r:id="rId28"/>
      <p:italic r:id="rId29"/>
      <p:boldItalic r:id="rId30"/>
    </p:embeddedFont>
    <p:embeddedFont>
      <p:font typeface="Inter SemiBold" panose="020B060402020202020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867508-BD38-46D7-B6E0-43AEAA44C858}" v="66" dt="2026-02-15T09:37:15.6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247" autoAdjust="0"/>
  </p:normalViewPr>
  <p:slideViewPr>
    <p:cSldViewPr snapToGrid="0">
      <p:cViewPr>
        <p:scale>
          <a:sx n="125" d="100"/>
          <a:sy n="125" d="100"/>
        </p:scale>
        <p:origin x="1194" y="45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4.fntdata"/><Relationship Id="rId39" Type="http://schemas.microsoft.com/office/2016/11/relationships/changesInfo" Target="changesInfos/changesInfo1.xml"/><Relationship Id="rId21" Type="http://schemas.openxmlformats.org/officeDocument/2006/relationships/slide" Target="slides/slide19.xml"/><Relationship Id="rId34" Type="http://schemas.openxmlformats.org/officeDocument/2006/relationships/font" Target="fonts/font12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9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redo custSel addSld delSld modSld sldOrd">
      <pc:chgData name="Jean-Yves Vuillequez" userId="e7fac481abea6bd0" providerId="LiveId" clId="{79E365E8-22BC-4EC2-9606-9A9AC6CD1D22}" dt="2026-02-15T09:41:16.431" v="10026" actId="20577"/>
      <pc:docMkLst>
        <pc:docMk/>
      </pc:docMkLst>
      <pc:sldChg chg="modNotesTx">
        <pc:chgData name="Jean-Yves Vuillequez" userId="e7fac481abea6bd0" providerId="LiveId" clId="{79E365E8-22BC-4EC2-9606-9A9AC6CD1D22}" dt="2026-02-15T07:25:22.255" v="9730" actId="6549"/>
        <pc:sldMkLst>
          <pc:docMk/>
          <pc:sldMk cId="1821755839" sldId="274"/>
        </pc:sldMkLst>
      </pc:sldChg>
      <pc:sldChg chg="ord">
        <pc:chgData name="Jean-Yves Vuillequez" userId="e7fac481abea6bd0" providerId="LiveId" clId="{79E365E8-22BC-4EC2-9606-9A9AC6CD1D22}" dt="2026-02-15T07:28:46.088" v="9736" actId="20578"/>
        <pc:sldMkLst>
          <pc:docMk/>
          <pc:sldMk cId="4088050223" sldId="275"/>
        </pc:sldMkLst>
      </pc:sldChg>
      <pc:sldChg chg="modSp">
        <pc:chgData name="Jean-Yves Vuillequez" userId="e7fac481abea6bd0" providerId="LiveId" clId="{79E365E8-22BC-4EC2-9606-9A9AC6CD1D22}" dt="2026-02-15T09:09:45.580" v="9991" actId="404"/>
        <pc:sldMkLst>
          <pc:docMk/>
          <pc:sldMk cId="406580661" sldId="286"/>
        </pc:sldMkLst>
        <pc:spChg chg="mod">
          <ac:chgData name="Jean-Yves Vuillequez" userId="e7fac481abea6bd0" providerId="LiveId" clId="{79E365E8-22BC-4EC2-9606-9A9AC6CD1D22}" dt="2026-02-15T09:09:37.076" v="9978" actId="404"/>
          <ac:spMkLst>
            <pc:docMk/>
            <pc:sldMk cId="406580661" sldId="286"/>
            <ac:spMk id="3" creationId="{E62B04DD-611C-26E7-F33B-2490F943666E}"/>
          </ac:spMkLst>
        </pc:spChg>
        <pc:spChg chg="mod">
          <ac:chgData name="Jean-Yves Vuillequez" userId="e7fac481abea6bd0" providerId="LiveId" clId="{79E365E8-22BC-4EC2-9606-9A9AC6CD1D22}" dt="2026-02-15T09:09:45.580" v="9991" actId="404"/>
          <ac:spMkLst>
            <pc:docMk/>
            <pc:sldMk cId="406580661" sldId="286"/>
            <ac:spMk id="6" creationId="{EECDC86C-FCEE-561B-5E32-81BAAA77D281}"/>
          </ac:spMkLst>
        </pc:spChg>
      </pc:sldChg>
      <pc:sldChg chg="addSp delSp modSp add mod modNotesTx">
        <pc:chgData name="Jean-Yves Vuillequez" userId="e7fac481abea6bd0" providerId="LiveId" clId="{79E365E8-22BC-4EC2-9606-9A9AC6CD1D22}" dt="2026-02-15T08:54:31.487" v="9975" actId="20577"/>
        <pc:sldMkLst>
          <pc:docMk/>
          <pc:sldMk cId="3332770" sldId="291"/>
        </pc:sldMkLst>
        <pc:spChg chg="del mod">
          <ac:chgData name="Jean-Yves Vuillequez" userId="e7fac481abea6bd0" providerId="LiveId" clId="{79E365E8-22BC-4EC2-9606-9A9AC6CD1D22}" dt="2026-02-15T08:37:39.460" v="9891" actId="478"/>
          <ac:spMkLst>
            <pc:docMk/>
            <pc:sldMk cId="3332770" sldId="291"/>
            <ac:spMk id="12" creationId="{B403ED53-942F-ACDD-C77F-9C1FC1E6046D}"/>
          </ac:spMkLst>
        </pc:spChg>
        <pc:spChg chg="del mod">
          <ac:chgData name="Jean-Yves Vuillequez" userId="e7fac481abea6bd0" providerId="LiveId" clId="{79E365E8-22BC-4EC2-9606-9A9AC6CD1D22}" dt="2026-02-15T08:37:39.460" v="9891" actId="478"/>
          <ac:spMkLst>
            <pc:docMk/>
            <pc:sldMk cId="3332770" sldId="291"/>
            <ac:spMk id="14" creationId="{5D0A73CE-C166-6A68-6591-7CD7FEC862D5}"/>
          </ac:spMkLst>
        </pc:spChg>
        <pc:spChg chg="mod">
          <ac:chgData name="Jean-Yves Vuillequez" userId="e7fac481abea6bd0" providerId="LiveId" clId="{79E365E8-22BC-4EC2-9606-9A9AC6CD1D22}" dt="2026-02-15T08:45:44.286" v="9901" actId="20577"/>
          <ac:spMkLst>
            <pc:docMk/>
            <pc:sldMk cId="3332770" sldId="291"/>
            <ac:spMk id="16" creationId="{351780FB-D45B-8CC9-9474-2419578455B1}"/>
          </ac:spMkLst>
        </pc:spChg>
        <pc:spChg chg="mod">
          <ac:chgData name="Jean-Yves Vuillequez" userId="e7fac481abea6bd0" providerId="LiveId" clId="{79E365E8-22BC-4EC2-9606-9A9AC6CD1D22}" dt="2026-02-15T08:47:31.795" v="9933" actId="20577"/>
          <ac:spMkLst>
            <pc:docMk/>
            <pc:sldMk cId="3332770" sldId="291"/>
            <ac:spMk id="178" creationId="{1DE246AA-5B17-33A5-5EF2-125E8EA81EFC}"/>
          </ac:spMkLst>
        </pc:spChg>
        <pc:graphicFrameChg chg="add mod modGraphic">
          <ac:chgData name="Jean-Yves Vuillequez" userId="e7fac481abea6bd0" providerId="LiveId" clId="{79E365E8-22BC-4EC2-9606-9A9AC6CD1D22}" dt="2026-02-15T08:31:42.495" v="9888" actId="113"/>
          <ac:graphicFrameMkLst>
            <pc:docMk/>
            <pc:sldMk cId="3332770" sldId="291"/>
            <ac:graphicFrameMk id="4" creationId="{7B8808C1-B8B8-4B15-49A1-106F1747C5BF}"/>
          </ac:graphicFrameMkLst>
        </pc:graphicFrameChg>
        <pc:picChg chg="mod">
          <ac:chgData name="Jean-Yves Vuillequez" userId="e7fac481abea6bd0" providerId="LiveId" clId="{79E365E8-22BC-4EC2-9606-9A9AC6CD1D22}" dt="2026-02-15T08:31:27.274" v="9882" actId="1076"/>
          <ac:picMkLst>
            <pc:docMk/>
            <pc:sldMk cId="3332770" sldId="291"/>
            <ac:picMk id="2" creationId="{BFC65734-9253-849D-5A6F-F7D5EA9D0712}"/>
          </ac:picMkLst>
        </pc:picChg>
        <pc:picChg chg="mod">
          <ac:chgData name="Jean-Yves Vuillequez" userId="e7fac481abea6bd0" providerId="LiveId" clId="{79E365E8-22BC-4EC2-9606-9A9AC6CD1D22}" dt="2026-02-15T08:31:27.274" v="9882" actId="1076"/>
          <ac:picMkLst>
            <pc:docMk/>
            <pc:sldMk cId="3332770" sldId="291"/>
            <ac:picMk id="3" creationId="{F42D4AB1-28C7-BB89-AEEE-DABEB2514D1E}"/>
          </ac:picMkLst>
        </pc:picChg>
      </pc:sldChg>
      <pc:sldChg chg="modNotesTx">
        <pc:chgData name="Jean-Yves Vuillequez" userId="e7fac481abea6bd0" providerId="LiveId" clId="{79E365E8-22BC-4EC2-9606-9A9AC6CD1D22}" dt="2026-02-15T09:37:47.172" v="10025" actId="20577"/>
        <pc:sldMkLst>
          <pc:docMk/>
          <pc:sldMk cId="3315518580" sldId="292"/>
        </pc:sldMkLst>
      </pc:sldChg>
      <pc:sldChg chg="modNotesTx">
        <pc:chgData name="Jean-Yves Vuillequez" userId="e7fac481abea6bd0" providerId="LiveId" clId="{79E365E8-22BC-4EC2-9606-9A9AC6CD1D22}" dt="2026-02-15T09:41:16.431" v="10026" actId="20577"/>
        <pc:sldMkLst>
          <pc:docMk/>
          <pc:sldMk cId="1444436494" sldId="297"/>
        </pc:sldMkLst>
      </pc:sldChg>
      <pc:sldChg chg="ord modNotesTx">
        <pc:chgData name="Jean-Yves Vuillequez" userId="e7fac481abea6bd0" providerId="LiveId" clId="{79E365E8-22BC-4EC2-9606-9A9AC6CD1D22}" dt="2026-02-15T09:36:38.623" v="9995"/>
        <pc:sldMkLst>
          <pc:docMk/>
          <pc:sldMk cId="1528976140" sldId="298"/>
        </pc:sldMkLst>
      </pc:sldChg>
      <pc:sldChg chg="addSp delSp modSp add del mod modNotesTx">
        <pc:chgData name="Jean-Yves Vuillequez" userId="e7fac481abea6bd0" providerId="LiveId" clId="{79E365E8-22BC-4EC2-9606-9A9AC6CD1D22}" dt="2026-02-15T08:43:06.324" v="9894" actId="47"/>
        <pc:sldMkLst>
          <pc:docMk/>
          <pc:sldMk cId="2166643445" sldId="299"/>
        </pc:sldMkLst>
        <pc:spChg chg="add mod">
          <ac:chgData name="Jean-Yves Vuillequez" userId="e7fac481abea6bd0" providerId="LiveId" clId="{79E365E8-22BC-4EC2-9606-9A9AC6CD1D22}" dt="2026-02-15T07:46:12.330" v="9754"/>
          <ac:spMkLst>
            <pc:docMk/>
            <pc:sldMk cId="2166643445" sldId="299"/>
            <ac:spMk id="2" creationId="{568AD9D5-CBD6-635D-3835-2E030901705B}"/>
          </ac:spMkLst>
        </pc:spChg>
        <pc:spChg chg="add mod">
          <ac:chgData name="Jean-Yves Vuillequez" userId="e7fac481abea6bd0" providerId="LiveId" clId="{79E365E8-22BC-4EC2-9606-9A9AC6CD1D22}" dt="2026-02-15T07:46:12.330" v="9754"/>
          <ac:spMkLst>
            <pc:docMk/>
            <pc:sldMk cId="2166643445" sldId="299"/>
            <ac:spMk id="4" creationId="{72DBBACA-AB5D-B8CE-5C7B-AD64996A78B0}"/>
          </ac:spMkLst>
        </pc:spChg>
        <pc:spChg chg="add mod">
          <ac:chgData name="Jean-Yves Vuillequez" userId="e7fac481abea6bd0" providerId="LiveId" clId="{79E365E8-22BC-4EC2-9606-9A9AC6CD1D22}" dt="2026-02-15T07:46:26.120" v="9755"/>
          <ac:spMkLst>
            <pc:docMk/>
            <pc:sldMk cId="2166643445" sldId="299"/>
            <ac:spMk id="5" creationId="{D7FB1A18-5C92-619F-3543-02C21C4AA1CE}"/>
          </ac:spMkLst>
        </pc:spChg>
        <pc:spChg chg="add mod">
          <ac:chgData name="Jean-Yves Vuillequez" userId="e7fac481abea6bd0" providerId="LiveId" clId="{79E365E8-22BC-4EC2-9606-9A9AC6CD1D22}" dt="2026-02-15T08:24:21.462" v="9816" actId="20577"/>
          <ac:spMkLst>
            <pc:docMk/>
            <pc:sldMk cId="2166643445" sldId="299"/>
            <ac:spMk id="6" creationId="{6B39F0EF-7020-3885-201F-E7AB7F48885D}"/>
          </ac:spMkLst>
        </pc:spChg>
        <pc:spChg chg="add mod">
          <ac:chgData name="Jean-Yves Vuillequez" userId="e7fac481abea6bd0" providerId="LiveId" clId="{79E365E8-22BC-4EC2-9606-9A9AC6CD1D22}" dt="2026-02-15T07:46:26.120" v="9755"/>
          <ac:spMkLst>
            <pc:docMk/>
            <pc:sldMk cId="2166643445" sldId="299"/>
            <ac:spMk id="7" creationId="{90366784-6A04-CA78-0398-BCB508BA4ED5}"/>
          </ac:spMkLst>
        </pc:spChg>
        <pc:spChg chg="del">
          <ac:chgData name="Jean-Yves Vuillequez" userId="e7fac481abea6bd0" providerId="LiveId" clId="{79E365E8-22BC-4EC2-9606-9A9AC6CD1D22}" dt="2026-02-15T07:41:29.674" v="9739" actId="478"/>
          <ac:spMkLst>
            <pc:docMk/>
            <pc:sldMk cId="2166643445" sldId="299"/>
            <ac:spMk id="11" creationId="{CCAFC56B-0391-D0D0-91A1-80E39855DACA}"/>
          </ac:spMkLst>
        </pc:spChg>
        <pc:spChg chg="del mod">
          <ac:chgData name="Jean-Yves Vuillequez" userId="e7fac481abea6bd0" providerId="LiveId" clId="{79E365E8-22BC-4EC2-9606-9A9AC6CD1D22}" dt="2026-02-15T07:50:24.280" v="9774" actId="478"/>
          <ac:spMkLst>
            <pc:docMk/>
            <pc:sldMk cId="2166643445" sldId="299"/>
            <ac:spMk id="13" creationId="{E19003E3-280F-7E0C-2560-B968F183C4B3}"/>
          </ac:spMkLst>
        </pc:spChg>
        <pc:spChg chg="mod">
          <ac:chgData name="Jean-Yves Vuillequez" userId="e7fac481abea6bd0" providerId="LiveId" clId="{79E365E8-22BC-4EC2-9606-9A9AC6CD1D22}" dt="2026-02-15T07:42:25.381" v="9753" actId="20577"/>
          <ac:spMkLst>
            <pc:docMk/>
            <pc:sldMk cId="2166643445" sldId="299"/>
            <ac:spMk id="68" creationId="{3E1FE9AF-F8BF-6D41-7238-1CD8C87E5960}"/>
          </ac:spMkLst>
        </pc:spChg>
        <pc:graphicFrameChg chg="del">
          <ac:chgData name="Jean-Yves Vuillequez" userId="e7fac481abea6bd0" providerId="LiveId" clId="{79E365E8-22BC-4EC2-9606-9A9AC6CD1D22}" dt="2026-02-15T07:41:29.674" v="9739" actId="478"/>
          <ac:graphicFrameMkLst>
            <pc:docMk/>
            <pc:sldMk cId="2166643445" sldId="299"/>
            <ac:graphicFrameMk id="3" creationId="{8413E2CF-464F-F5E1-341F-3D8E5281BBA6}"/>
          </ac:graphicFrameMkLst>
        </pc:graphicFrameChg>
        <pc:graphicFrameChg chg="mod modGraphic">
          <ac:chgData name="Jean-Yves Vuillequez" userId="e7fac481abea6bd0" providerId="LiveId" clId="{79E365E8-22BC-4EC2-9606-9A9AC6CD1D22}" dt="2026-02-15T08:31:14.449" v="9879" actId="14100"/>
          <ac:graphicFrameMkLst>
            <pc:docMk/>
            <pc:sldMk cId="2166643445" sldId="299"/>
            <ac:graphicFrameMk id="12" creationId="{96E9CAC1-4227-BB56-BF25-F3E8680718D1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Quantité énergie perdues vs optimisation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3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</a:p>
          <a:p>
            <a:pPr marL="114300" lvl="0" indent="0">
              <a:buNone/>
            </a:pPr>
            <a:endParaRPr lang="fr-FR" sz="1100" dirty="0">
              <a:sym typeface="Wingdings" panose="05000000000000000000" pitchFamily="2" charset="2"/>
            </a:endParaRP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Définition du 10 cm (intensité fréquence – Approximateur de l’activité solaire)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Données spatiales  drop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Radom </a:t>
            </a:r>
            <a:r>
              <a:rPr lang="fr-FR" sz="1100" dirty="0" err="1">
                <a:sym typeface="Wingdings" panose="05000000000000000000" pitchFamily="2" charset="2"/>
              </a:rPr>
              <a:t>forest</a:t>
            </a:r>
            <a:r>
              <a:rPr lang="fr-FR" sz="1100" dirty="0">
                <a:sym typeface="Wingdings" panose="05000000000000000000" pitchFamily="2" charset="2"/>
              </a:rPr>
              <a:t> explication</a:t>
            </a:r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sz="1100" dirty="0"/>
          </a:p>
          <a:p>
            <a:pPr marL="2857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tabLst/>
              <a:defRPr/>
            </a:pPr>
            <a:r>
              <a:rPr lang="fr-FR" dirty="0"/>
              <a:t>Le R2 score mesure la proportion de la variance expliquée par le modèle : À quel point mon modèle explique les variations de la variable cible ? Le modèle explique environ </a:t>
            </a:r>
            <a:r>
              <a:rPr lang="fr-FR" b="1" dirty="0"/>
              <a:t>80 % de la variabilité du taux de charge solaire</a:t>
            </a:r>
            <a:r>
              <a:rPr lang="fr-FR" dirty="0"/>
              <a:t>.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La MAE </a:t>
            </a:r>
            <a:r>
              <a:rPr lang="fr-FR" sz="1100" dirty="0" err="1">
                <a:solidFill>
                  <a:srgbClr val="C00000"/>
                </a:solidFill>
              </a:rPr>
              <a:t>Mean</a:t>
            </a:r>
            <a:r>
              <a:rPr lang="fr-FR" sz="1100" dirty="0">
                <a:solidFill>
                  <a:srgbClr val="C00000"/>
                </a:solidFill>
              </a:rPr>
              <a:t> </a:t>
            </a:r>
            <a:r>
              <a:rPr lang="fr-FR" sz="1100" dirty="0" err="1">
                <a:solidFill>
                  <a:srgbClr val="C00000"/>
                </a:solidFill>
              </a:rPr>
              <a:t>Absolute</a:t>
            </a:r>
            <a:r>
              <a:rPr lang="fr-FR" sz="1100" dirty="0">
                <a:solidFill>
                  <a:srgbClr val="C00000"/>
                </a:solidFill>
              </a:rPr>
              <a:t> </a:t>
            </a:r>
            <a:r>
              <a:rPr lang="fr-FR" sz="1100" dirty="0" err="1">
                <a:solidFill>
                  <a:srgbClr val="C00000"/>
                </a:solidFill>
              </a:rPr>
              <a:t>Error</a:t>
            </a:r>
            <a:r>
              <a:rPr lang="fr-FR" sz="1100" dirty="0">
                <a:solidFill>
                  <a:srgbClr val="C00000"/>
                </a:solidFill>
              </a:rPr>
              <a:t>  </a:t>
            </a:r>
            <a:r>
              <a:rPr lang="fr-FR" sz="1100" dirty="0"/>
              <a:t>mesure :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En moyenne, de combien mon modèle se trompe.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On regarde la différence entre :</a:t>
            </a:r>
          </a:p>
          <a:p>
            <a:pPr marL="285750" lvl="0" indent="-171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fr-FR" sz="1100" dirty="0"/>
              <a:t>la valeur réelle</a:t>
            </a:r>
          </a:p>
          <a:p>
            <a:pPr marL="285750" lvl="0" indent="-171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fr-FR" sz="1100" dirty="0"/>
              <a:t>la valeur prédite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Puis on prend la valeur absolue (sans signe négatif)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Puis on fait la moyenne.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sz="11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RMSE - Root Mean Squared Error : </a:t>
            </a:r>
            <a:r>
              <a:rPr lang="fr-FR" dirty="0"/>
              <a:t>On met l’erreur au carré avant de faire la moyenne. Donc les grosses erreurs comptent beaucoup plus. Le fait que RMSE soit nettement plus élevé indique : Il existe quelques erreurs importantes (sur les extrêmes)</a:t>
            </a:r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8C46411-409A-2EF1-94A1-820A09FB0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411F7F17-DB6A-9D98-EFE6-99499B3AAC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007C55AB-20D6-5A73-A961-EF29E8E3FA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9065285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Métrique : </a:t>
            </a:r>
          </a:p>
          <a:p>
            <a:pPr marL="114300" indent="0">
              <a:buNone/>
            </a:pPr>
            <a:r>
              <a:rPr lang="fr-FR" sz="1100" b="0" dirty="0"/>
              <a:t>Si l’objectif est la stabilité du réseau, Est-ce que rater de 20 points un pic solaire est plus grave que se tromper régulièrement de 5 points ? </a:t>
            </a:r>
          </a:p>
          <a:p>
            <a:pPr marL="114300" indent="0">
              <a:buNone/>
            </a:pPr>
            <a:r>
              <a:rPr lang="fr-FR" sz="1100" b="0" dirty="0"/>
              <a:t>La réponse métier détermine la métrique.</a:t>
            </a:r>
          </a:p>
          <a:p>
            <a:pPr marL="114300" indent="0">
              <a:buNone/>
            </a:pPr>
            <a:endParaRPr lang="fr-FR" sz="1100" b="1" dirty="0"/>
          </a:p>
          <a:p>
            <a:pPr marL="114300" indent="0">
              <a:buNone/>
            </a:pPr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46888412-051D-A3DD-D553-7665D0C04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26D0A05E-F9D6-869F-CEEA-413C0CB686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8EF31D09-A55E-2754-61F7-B234B4AD7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631916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nalysesetdonnees.rte-france.com/bilan-electrique-2024/production?utm_source=chatgpt.com#Vuedensemble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hyperlink" Target="https://renergies99-dashboard.hf.space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slide" Target="slide18.xml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80351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2586770"/>
            <a:ext cx="1078173" cy="929335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2586770"/>
            <a:ext cx="7161234" cy="929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Anticiper</a:t>
            </a:r>
            <a:r>
              <a:rPr lang="fr-FR" sz="1200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sz="1200" dirty="0" err="1">
                <a:latin typeface="+mj-lt"/>
                <a:ea typeface="Calibri"/>
                <a:cs typeface="Calibri"/>
              </a:rPr>
              <a:t>EnR</a:t>
            </a:r>
            <a:r>
              <a:rPr lang="fr-FR" sz="1200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sz="1200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sz="1200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989658"/>
            <a:ext cx="1078173" cy="750533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989658"/>
            <a:ext cx="7161234" cy="75053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sz="1200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2352227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734980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877B16D-43E1-D8A2-6CBB-699281489860}"/>
              </a:ext>
            </a:extLst>
          </p:cNvPr>
          <p:cNvSpPr txBox="1"/>
          <p:nvPr/>
        </p:nvSpPr>
        <p:spPr>
          <a:xfrm>
            <a:off x="1776980" y="1614732"/>
            <a:ext cx="7055319" cy="37457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fr-FR" sz="1600" dirty="0"/>
              <a:t>Plusieurs centaines de GWh solaire </a:t>
            </a:r>
            <a:r>
              <a:rPr lang="fr-FR" sz="1600" b="1" dirty="0"/>
              <a:t>perdus</a:t>
            </a:r>
            <a:r>
              <a:rPr lang="fr-FR" sz="1600" dirty="0"/>
              <a:t> certaines années </a:t>
            </a:r>
            <a:r>
              <a:rPr lang="fr-FR" sz="1200" dirty="0"/>
              <a:t>(Source </a:t>
            </a:r>
            <a:r>
              <a:rPr lang="fr-FR" sz="1200" dirty="0">
                <a:hlinkClick r:id="rId5"/>
              </a:rPr>
              <a:t>RTE</a:t>
            </a:r>
            <a:r>
              <a:rPr lang="fr-FR" sz="1200" dirty="0"/>
              <a:t>)</a:t>
            </a:r>
            <a:endParaRPr lang="fr-FR" sz="1600" dirty="0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7699EDF7-B3FD-9018-8ED9-C590861D6946}"/>
              </a:ext>
            </a:extLst>
          </p:cNvPr>
          <p:cNvSpPr/>
          <p:nvPr/>
        </p:nvSpPr>
        <p:spPr>
          <a:xfrm>
            <a:off x="524652" y="1484459"/>
            <a:ext cx="1146413" cy="660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Constat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  <p:bldP spid="5" grpId="0" animBg="1"/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56B5F17-0455-4EEE-EA40-088735D5E368}"/>
              </a:ext>
            </a:extLst>
          </p:cNvPr>
          <p:cNvGrpSpPr/>
          <p:nvPr/>
        </p:nvGrpSpPr>
        <p:grpSpPr>
          <a:xfrm>
            <a:off x="263070" y="1458686"/>
            <a:ext cx="2030067" cy="3272971"/>
            <a:chOff x="263070" y="1458686"/>
            <a:chExt cx="2030067" cy="3272971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626281" y="1716520"/>
              <a:ext cx="653142" cy="2740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78455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512232" y="2694535"/>
              <a:ext cx="86354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  <a:p>
              <a:pPr algn="ctr"/>
              <a:r>
                <a:rPr lang="fr-FR" sz="600" b="1" dirty="0"/>
                <a:t>(métadonnées)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3014137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463375" y="3488496"/>
              <a:ext cx="94927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93739" y="376236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463374" y="4238831"/>
              <a:ext cx="95901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095600" y="1606201"/>
              <a:ext cx="264768" cy="273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7" name="Picture 8">
              <a:extLst>
                <a:ext uri="{FF2B5EF4-FFF2-40B4-BE49-F238E27FC236}">
                  <a16:creationId xmlns:a16="http://schemas.microsoft.com/office/drawing/2014/main" id="{0DF6E305-58E0-10D9-0E90-7E26126193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203"/>
            <a:stretch>
              <a:fillRect/>
            </a:stretch>
          </p:blipFill>
          <p:spPr bwMode="auto">
            <a:xfrm>
              <a:off x="1666945" y="2090436"/>
              <a:ext cx="492649" cy="5741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3" name="Picture 10">
              <a:extLst>
                <a:ext uri="{FF2B5EF4-FFF2-40B4-BE49-F238E27FC236}">
                  <a16:creationId xmlns:a16="http://schemas.microsoft.com/office/drawing/2014/main" id="{FD816D59-77CA-1E04-DAC5-C8410FAC61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775"/>
            <a:stretch>
              <a:fillRect/>
            </a:stretch>
          </p:blipFill>
          <p:spPr bwMode="auto">
            <a:xfrm>
              <a:off x="1684197" y="3264975"/>
              <a:ext cx="492665" cy="57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33B23519-5EFA-F17A-CAA2-6EF8A191B3CD}"/>
                </a:ext>
              </a:extLst>
            </p:cNvPr>
            <p:cNvSpPr/>
            <p:nvPr/>
          </p:nvSpPr>
          <p:spPr>
            <a:xfrm>
              <a:off x="456709" y="1469509"/>
              <a:ext cx="972305" cy="3123802"/>
            </a:xfrm>
            <a:prstGeom prst="round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804A8FE7-27C3-4C54-36F8-6A8C0900C5DA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2383224"/>
              <a:ext cx="362079" cy="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A34EFFD9-2B7F-223F-36C3-4CCC46291479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3554011"/>
              <a:ext cx="362079" cy="0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FD39475C-E631-B671-266E-B9334304C252}"/>
              </a:ext>
            </a:extLst>
          </p:cNvPr>
          <p:cNvGrpSpPr/>
          <p:nvPr/>
        </p:nvGrpSpPr>
        <p:grpSpPr>
          <a:xfrm>
            <a:off x="6685555" y="1873629"/>
            <a:ext cx="1574333" cy="2814629"/>
            <a:chOff x="6685555" y="1873629"/>
            <a:chExt cx="1574333" cy="2814629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61" t="20885" r="16005" b="23808"/>
            <a:stretch>
              <a:fillRect/>
            </a:stretch>
          </p:blipFill>
          <p:spPr bwMode="auto">
            <a:xfrm>
              <a:off x="7785778" y="1885388"/>
              <a:ext cx="435834" cy="266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63" t="15290" r="18027" b="19432"/>
            <a:stretch>
              <a:fillRect/>
            </a:stretch>
          </p:blipFill>
          <p:spPr bwMode="auto">
            <a:xfrm>
              <a:off x="7188151" y="4068942"/>
              <a:ext cx="603504" cy="619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2271252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328730"/>
              <a:ext cx="115633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EDA </a:t>
              </a:r>
            </a:p>
            <a:p>
              <a:pPr algn="ctr"/>
              <a:r>
                <a:rPr lang="fr-FR" sz="7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7012431" y="2970222"/>
              <a:ext cx="110451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85576"/>
              <a:ext cx="1156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PREDICT </a:t>
              </a:r>
            </a:p>
            <a:p>
              <a:pPr algn="ctr"/>
              <a:r>
                <a:rPr lang="fr-FR" sz="7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881481" y="1873629"/>
              <a:ext cx="1378407" cy="1764604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1" name="Picture 14">
              <a:extLst>
                <a:ext uri="{FF2B5EF4-FFF2-40B4-BE49-F238E27FC236}">
                  <a16:creationId xmlns:a16="http://schemas.microsoft.com/office/drawing/2014/main" id="{174134F5-72A3-DA25-E671-C7DDD8DFA8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6885019" y="1985270"/>
              <a:ext cx="800992" cy="17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4BA37FE-DD89-0B23-6089-5FD37763331C}"/>
                </a:ext>
              </a:extLst>
            </p:cNvPr>
            <p:cNvSpPr/>
            <p:nvPr/>
          </p:nvSpPr>
          <p:spPr>
            <a:xfrm>
              <a:off x="7624519" y="2020902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BFDE930-E8FD-AEFC-C080-0E20435636B0}"/>
                </a:ext>
              </a:extLst>
            </p:cNvPr>
            <p:cNvGrpSpPr/>
            <p:nvPr/>
          </p:nvGrpSpPr>
          <p:grpSpPr>
            <a:xfrm>
              <a:off x="6685555" y="3898233"/>
              <a:ext cx="703440" cy="410340"/>
              <a:chOff x="7750640" y="4242260"/>
              <a:chExt cx="447927" cy="261290"/>
            </a:xfrm>
          </p:grpSpPr>
          <p:sp>
            <p:nvSpPr>
              <p:cNvPr id="45" name="Rectangle : coins arrondis 44">
                <a:extLst>
                  <a:ext uri="{FF2B5EF4-FFF2-40B4-BE49-F238E27FC236}">
                    <a16:creationId xmlns:a16="http://schemas.microsoft.com/office/drawing/2014/main" id="{D7F593C2-1139-09D7-2E16-9F2706484D71}"/>
                  </a:ext>
                </a:extLst>
              </p:cNvPr>
              <p:cNvSpPr/>
              <p:nvPr/>
            </p:nvSpPr>
            <p:spPr>
              <a:xfrm>
                <a:off x="7785777" y="4265830"/>
                <a:ext cx="373983" cy="223312"/>
              </a:xfrm>
              <a:prstGeom prst="round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9" name="Picture 2">
                <a:extLst>
                  <a:ext uri="{FF2B5EF4-FFF2-40B4-BE49-F238E27FC236}">
                    <a16:creationId xmlns:a16="http://schemas.microsoft.com/office/drawing/2014/main" id="{66E29ABD-B82C-FAB9-3744-D1866DC79A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640" y="4242260"/>
                <a:ext cx="447927" cy="261290"/>
              </a:xfrm>
              <a:prstGeom prst="rect">
                <a:avLst/>
              </a:prstGeom>
              <a:noFill/>
            </p:spPr>
          </p:pic>
        </p:grp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EC855B51-00D1-B205-FFDD-9584B2007244}"/>
              </a:ext>
            </a:extLst>
          </p:cNvPr>
          <p:cNvGrpSpPr/>
          <p:nvPr/>
        </p:nvGrpSpPr>
        <p:grpSpPr>
          <a:xfrm>
            <a:off x="4245348" y="1458686"/>
            <a:ext cx="2205580" cy="3272971"/>
            <a:chOff x="4245348" y="1458686"/>
            <a:chExt cx="2205580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6" name="Picture 12">
              <a:extLst>
                <a:ext uri="{FF2B5EF4-FFF2-40B4-BE49-F238E27FC236}">
                  <a16:creationId xmlns:a16="http://schemas.microsoft.com/office/drawing/2014/main" id="{135630BC-F5F0-17C1-438A-A312C16997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0470" y="2524037"/>
              <a:ext cx="781468" cy="5643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1B3822DD-A0E9-A37F-0DE9-40781F1C3D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4575513" y="2705986"/>
              <a:ext cx="1009143" cy="225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Rectangle : coins arrondis 46">
              <a:extLst>
                <a:ext uri="{FF2B5EF4-FFF2-40B4-BE49-F238E27FC236}">
                  <a16:creationId xmlns:a16="http://schemas.microsoft.com/office/drawing/2014/main" id="{481D51B6-7D43-7926-6891-407782B836DE}"/>
                </a:ext>
              </a:extLst>
            </p:cNvPr>
            <p:cNvSpPr/>
            <p:nvPr/>
          </p:nvSpPr>
          <p:spPr>
            <a:xfrm>
              <a:off x="4883346" y="3012224"/>
              <a:ext cx="1107899" cy="5602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FE31E2F0-6B8A-B0EE-9044-0597F28AE28A}"/>
                </a:ext>
              </a:extLst>
            </p:cNvPr>
            <p:cNvSpPr txBox="1"/>
            <p:nvPr/>
          </p:nvSpPr>
          <p:spPr>
            <a:xfrm>
              <a:off x="4909152" y="3149942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 err="1"/>
                <a:t>Tracking</a:t>
              </a:r>
              <a:r>
                <a:rPr lang="fr-FR" sz="800" b="1" dirty="0"/>
                <a:t> du modèle</a:t>
              </a:r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8486A803-5325-E4EE-E6D1-9C2310E9372C}"/>
                </a:ext>
              </a:extLst>
            </p:cNvPr>
            <p:cNvSpPr/>
            <p:nvPr/>
          </p:nvSpPr>
          <p:spPr>
            <a:xfrm>
              <a:off x="4881636" y="3862081"/>
              <a:ext cx="1109609" cy="5253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45817E9-F26B-F5AC-E969-2DB4F41AE334}"/>
                </a:ext>
              </a:extLst>
            </p:cNvPr>
            <p:cNvSpPr txBox="1"/>
            <p:nvPr/>
          </p:nvSpPr>
          <p:spPr>
            <a:xfrm>
              <a:off x="4911591" y="3977728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Registre et runs du modèle</a:t>
              </a:r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2294E8E-D08B-505D-5B9D-D8788A9CD3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1140" y="2843961"/>
              <a:ext cx="711670" cy="374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Image 50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054FB5AB-F043-1139-CFA8-44C9034D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76380" y="3775222"/>
              <a:ext cx="247189" cy="295703"/>
            </a:xfrm>
            <a:prstGeom prst="rect">
              <a:avLst/>
            </a:prstGeom>
          </p:spPr>
        </p:pic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A45A31B-42CC-CB8B-442E-3576FB243381}"/>
                </a:ext>
              </a:extLst>
            </p:cNvPr>
            <p:cNvSpPr/>
            <p:nvPr/>
          </p:nvSpPr>
          <p:spPr>
            <a:xfrm>
              <a:off x="5535850" y="2751648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CF1F8123-FC2A-EF28-8139-FC1D62216C5F}"/>
                </a:ext>
              </a:extLst>
            </p:cNvPr>
            <p:cNvSpPr/>
            <p:nvPr/>
          </p:nvSpPr>
          <p:spPr>
            <a:xfrm>
              <a:off x="4531529" y="2628306"/>
              <a:ext cx="1796425" cy="1870262"/>
            </a:xfrm>
            <a:prstGeom prst="roundRect">
              <a:avLst>
                <a:gd name="adj" fmla="val 10895"/>
              </a:avLst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46" name="Connecteur droit avec flèche 1045">
              <a:extLst>
                <a:ext uri="{FF2B5EF4-FFF2-40B4-BE49-F238E27FC236}">
                  <a16:creationId xmlns:a16="http://schemas.microsoft.com/office/drawing/2014/main" id="{F59A3777-3D90-7CA7-F89E-8874DA5F6283}"/>
                </a:ext>
              </a:extLst>
            </p:cNvPr>
            <p:cNvCxnSpPr>
              <a:cxnSpLocks/>
              <a:stCxn id="46" idx="2"/>
            </p:cNvCxnSpPr>
            <p:nvPr/>
          </p:nvCxnSpPr>
          <p:spPr>
            <a:xfrm>
              <a:off x="5427620" y="2302794"/>
              <a:ext cx="2122" cy="32551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Connecteur droit avec flèche 1067">
              <a:extLst>
                <a:ext uri="{FF2B5EF4-FFF2-40B4-BE49-F238E27FC236}">
                  <a16:creationId xmlns:a16="http://schemas.microsoft.com/office/drawing/2014/main" id="{3FF98031-1DCE-7770-7F38-10F134A37AB2}"/>
                </a:ext>
              </a:extLst>
            </p:cNvPr>
            <p:cNvCxnSpPr>
              <a:cxnSpLocks/>
              <a:stCxn id="47" idx="2"/>
              <a:endCxn id="49" idx="0"/>
            </p:cNvCxnSpPr>
            <p:nvPr/>
          </p:nvCxnSpPr>
          <p:spPr>
            <a:xfrm flipH="1">
              <a:off x="5436441" y="3572509"/>
              <a:ext cx="855" cy="289572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433E364-4228-6856-536E-34873F6A6DC3}"/>
                </a:ext>
              </a:extLst>
            </p:cNvPr>
            <p:cNvSpPr/>
            <p:nvPr/>
          </p:nvSpPr>
          <p:spPr>
            <a:xfrm>
              <a:off x="4809680" y="1817936"/>
              <a:ext cx="1235879" cy="48485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748B16F9-6C53-91C1-4712-424BF6CE89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8049" y="1580684"/>
              <a:ext cx="506762" cy="50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82088E1-064C-5214-7A97-A059E4869B55}"/>
                </a:ext>
              </a:extLst>
            </p:cNvPr>
            <p:cNvSpPr txBox="1"/>
            <p:nvPr/>
          </p:nvSpPr>
          <p:spPr>
            <a:xfrm>
              <a:off x="4913179" y="1841943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Entraînement du modèle</a:t>
              </a:r>
            </a:p>
          </p:txBody>
        </p: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8FC538F3-E888-6C1B-940B-D6B968D8FCEE}"/>
                </a:ext>
              </a:extLst>
            </p:cNvPr>
            <p:cNvCxnSpPr>
              <a:cxnSpLocks/>
            </p:cNvCxnSpPr>
            <p:nvPr/>
          </p:nvCxnSpPr>
          <p:spPr>
            <a:xfrm>
              <a:off x="4245348" y="2035648"/>
              <a:ext cx="551235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E363E85D-958E-F6A6-C279-98695543B49C}"/>
              </a:ext>
            </a:extLst>
          </p:cNvPr>
          <p:cNvCxnSpPr>
            <a:cxnSpLocks/>
            <a:stCxn id="43" idx="2"/>
            <a:endCxn id="32" idx="2"/>
          </p:cNvCxnSpPr>
          <p:nvPr/>
        </p:nvCxnSpPr>
        <p:spPr>
          <a:xfrm rot="5400000" flipH="1">
            <a:off x="5107006" y="2305361"/>
            <a:ext cx="557436" cy="4208358"/>
          </a:xfrm>
          <a:prstGeom prst="bentConnector3">
            <a:avLst>
              <a:gd name="adj1" fmla="val -20049"/>
            </a:avLst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4B1DEF0E-3C11-180E-A253-FB6D258584E1}"/>
              </a:ext>
            </a:extLst>
          </p:cNvPr>
          <p:cNvGrpSpPr/>
          <p:nvPr/>
        </p:nvGrpSpPr>
        <p:grpSpPr>
          <a:xfrm>
            <a:off x="2159594" y="1458686"/>
            <a:ext cx="2219311" cy="3272971"/>
            <a:chOff x="2159594" y="1458686"/>
            <a:chExt cx="2219311" cy="3272971"/>
          </a:xfrm>
        </p:grpSpPr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AEAEB6F6-E6B3-2BA6-860A-9983C6A790DD}"/>
                </a:ext>
              </a:extLst>
            </p:cNvPr>
            <p:cNvSpPr/>
            <p:nvPr/>
          </p:nvSpPr>
          <p:spPr>
            <a:xfrm>
              <a:off x="2461359" y="3203187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FF00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711808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428104" y="3028817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9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90550" y="2795080"/>
              <a:ext cx="347790" cy="416048"/>
            </a:xfrm>
            <a:prstGeom prst="rect">
              <a:avLst/>
            </a:prstGeom>
          </p:spPr>
        </p:pic>
        <p:pic>
          <p:nvPicPr>
            <p:cNvPr id="116" name="Picture 4">
              <a:extLst>
                <a:ext uri="{FF2B5EF4-FFF2-40B4-BE49-F238E27FC236}">
                  <a16:creationId xmlns:a16="http://schemas.microsoft.com/office/drawing/2014/main" id="{B7DCCBAF-8A38-3C4F-0798-30A393D5D2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93" t="7524" r="12698" b="43966"/>
            <a:stretch>
              <a:fillRect/>
            </a:stretch>
          </p:blipFill>
          <p:spPr bwMode="auto">
            <a:xfrm>
              <a:off x="2717304" y="2067458"/>
              <a:ext cx="602696" cy="61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6">
              <a:extLst>
                <a:ext uri="{FF2B5EF4-FFF2-40B4-BE49-F238E27FC236}">
                  <a16:creationId xmlns:a16="http://schemas.microsoft.com/office/drawing/2014/main" id="{B3747ED9-0378-A202-7151-54782D96CF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15" t="12234" r="33730" b="47839"/>
            <a:stretch>
              <a:fillRect/>
            </a:stretch>
          </p:blipFill>
          <p:spPr bwMode="auto">
            <a:xfrm>
              <a:off x="2939586" y="3240731"/>
              <a:ext cx="664926" cy="6384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D8A48580-543E-68C9-355D-6C2F58EACB96}"/>
                </a:ext>
              </a:extLst>
            </p:cNvPr>
            <p:cNvCxnSpPr>
              <a:cxnSpLocks/>
              <a:stCxn id="127" idx="3"/>
              <a:endCxn id="116" idx="1"/>
            </p:cNvCxnSpPr>
            <p:nvPr/>
          </p:nvCxnSpPr>
          <p:spPr>
            <a:xfrm flipV="1">
              <a:off x="2159594" y="2375252"/>
              <a:ext cx="557710" cy="228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965C0EE-9642-2EA9-734C-AF9138078030}"/>
                </a:ext>
              </a:extLst>
            </p:cNvPr>
            <p:cNvCxnSpPr>
              <a:cxnSpLocks/>
              <a:stCxn id="1033" idx="3"/>
              <a:endCxn id="117" idx="1"/>
            </p:cNvCxnSpPr>
            <p:nvPr/>
          </p:nvCxnSpPr>
          <p:spPr>
            <a:xfrm>
              <a:off x="2176862" y="3554011"/>
              <a:ext cx="762724" cy="5928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9F92FB23-9D37-AEB9-493C-1E3DAE1913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739660" y="2205082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9AD6B91C-AEA0-8BCF-42B4-76BEC72FDE00}"/>
                </a:ext>
              </a:extLst>
            </p:cNvPr>
            <p:cNvCxnSpPr>
              <a:cxnSpLocks/>
              <a:endCxn id="20" idx="1"/>
            </p:cNvCxnSpPr>
            <p:nvPr/>
          </p:nvCxnSpPr>
          <p:spPr>
            <a:xfrm flipV="1">
              <a:off x="3335298" y="2377579"/>
              <a:ext cx="404362" cy="13"/>
            </a:xfrm>
            <a:prstGeom prst="straightConnector1">
              <a:avLst/>
            </a:prstGeom>
            <a:ln w="127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F47604A-F072-9B2B-A28D-D050592AE8FB}"/>
                </a:ext>
              </a:extLst>
            </p:cNvPr>
            <p:cNvSpPr txBox="1"/>
            <p:nvPr/>
          </p:nvSpPr>
          <p:spPr>
            <a:xfrm>
              <a:off x="2394220" y="2666628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historiques :</a:t>
              </a:r>
            </a:p>
            <a:p>
              <a:pPr algn="ctr"/>
              <a:r>
                <a:rPr lang="fr-FR" sz="700" b="1" dirty="0"/>
                <a:t>RTE, Solar, </a:t>
              </a:r>
              <a:r>
                <a:rPr lang="fr-FR" sz="700" b="1" dirty="0" err="1"/>
                <a:t>Openweather</a:t>
              </a:r>
              <a:r>
                <a:rPr lang="fr-FR" sz="700" b="1" dirty="0"/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46A74A5-8390-A9B2-0686-BA8885C4CDA4}"/>
                </a:ext>
              </a:extLst>
            </p:cNvPr>
            <p:cNvSpPr txBox="1"/>
            <p:nvPr/>
          </p:nvSpPr>
          <p:spPr>
            <a:xfrm>
              <a:off x="2586439" y="3823045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prédictives : </a:t>
              </a:r>
            </a:p>
            <a:p>
              <a:pPr algn="ctr"/>
              <a:r>
                <a:rPr lang="fr-FR" sz="700" b="1" dirty="0"/>
                <a:t>Solar, </a:t>
              </a:r>
              <a:r>
                <a:rPr lang="fr-FR" sz="700" b="1" dirty="0" err="1"/>
                <a:t>Openweather</a:t>
              </a:r>
              <a:endParaRPr lang="fr-FR" sz="700" b="1" dirty="0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75C2D434-8ADD-A5DA-1AED-8BF4C18B9EB3}"/>
              </a:ext>
            </a:extLst>
          </p:cNvPr>
          <p:cNvGrpSpPr/>
          <p:nvPr/>
        </p:nvGrpSpPr>
        <p:grpSpPr>
          <a:xfrm>
            <a:off x="3017736" y="4221213"/>
            <a:ext cx="527618" cy="307777"/>
            <a:chOff x="3017736" y="4221213"/>
            <a:chExt cx="527618" cy="307777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3059124" y="4248976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7736" y="4221213"/>
              <a:ext cx="527618" cy="307777"/>
            </a:xfrm>
            <a:prstGeom prst="rect">
              <a:avLst/>
            </a:prstGeom>
            <a:noFill/>
          </p:spPr>
        </p:pic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E88C532-5DC4-9A8E-0BD9-8DCB5D7A9625}"/>
              </a:ext>
            </a:extLst>
          </p:cNvPr>
          <p:cNvGrpSpPr/>
          <p:nvPr/>
        </p:nvGrpSpPr>
        <p:grpSpPr>
          <a:xfrm>
            <a:off x="3663791" y="1799583"/>
            <a:ext cx="527618" cy="307777"/>
            <a:chOff x="3379555" y="2002169"/>
            <a:chExt cx="527618" cy="307777"/>
          </a:xfrm>
        </p:grpSpPr>
        <p:sp>
          <p:nvSpPr>
            <p:cNvPr id="79" name="Rectangle : coins arrondis 78">
              <a:extLst>
                <a:ext uri="{FF2B5EF4-FFF2-40B4-BE49-F238E27FC236}">
                  <a16:creationId xmlns:a16="http://schemas.microsoft.com/office/drawing/2014/main" id="{61FAC2B4-497C-99AF-7507-9699F89C2CB8}"/>
                </a:ext>
              </a:extLst>
            </p:cNvPr>
            <p:cNvSpPr/>
            <p:nvPr/>
          </p:nvSpPr>
          <p:spPr>
            <a:xfrm>
              <a:off x="3415221" y="2029932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Picture 2">
              <a:extLst>
                <a:ext uri="{FF2B5EF4-FFF2-40B4-BE49-F238E27FC236}">
                  <a16:creationId xmlns:a16="http://schemas.microsoft.com/office/drawing/2014/main" id="{FEC09453-8329-B943-E8CD-D18A9746E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79555" y="2002169"/>
              <a:ext cx="527618" cy="307777"/>
            </a:xfrm>
            <a:prstGeom prst="rect">
              <a:avLst/>
            </a:prstGeom>
            <a:noFill/>
          </p:spPr>
        </p:pic>
      </p:grp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2097" idx="3"/>
          </p:cNvCxnSpPr>
          <p:nvPr/>
        </p:nvCxnSpPr>
        <p:spPr>
          <a:xfrm rot="5400000">
            <a:off x="8279459" y="3024137"/>
            <a:ext cx="443149" cy="459586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092911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88319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88220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098205"/>
            <a:ext cx="3793922" cy="1681615"/>
          </a:xfrm>
          <a:prstGeom prst="rect">
            <a:avLst/>
          </a:prstGeom>
        </p:spPr>
      </p:pic>
      <p:sp>
        <p:nvSpPr>
          <p:cNvPr id="3" name="Google Shape;178;p8">
            <a:extLst>
              <a:ext uri="{FF2B5EF4-FFF2-40B4-BE49-F238E27FC236}">
                <a16:creationId xmlns:a16="http://schemas.microsoft.com/office/drawing/2014/main" id="{35D30AE4-40E2-1500-ADDE-34C7E592AC53}"/>
              </a:ext>
            </a:extLst>
          </p:cNvPr>
          <p:cNvSpPr txBox="1">
            <a:spLocks/>
          </p:cNvSpPr>
          <p:nvPr/>
        </p:nvSpPr>
        <p:spPr>
          <a:xfrm>
            <a:off x="311699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  <p:sp>
        <p:nvSpPr>
          <p:cNvPr id="4" name="Google Shape;178;p8">
            <a:extLst>
              <a:ext uri="{FF2B5EF4-FFF2-40B4-BE49-F238E27FC236}">
                <a16:creationId xmlns:a16="http://schemas.microsoft.com/office/drawing/2014/main" id="{1276B7C1-B3AC-EE95-FC17-C4066D8DD80E}"/>
              </a:ext>
            </a:extLst>
          </p:cNvPr>
          <p:cNvSpPr txBox="1">
            <a:spLocks/>
          </p:cNvSpPr>
          <p:nvPr/>
        </p:nvSpPr>
        <p:spPr>
          <a:xfrm>
            <a:off x="4891125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3214" y="3159645"/>
            <a:ext cx="3371075" cy="170530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59645"/>
            <a:ext cx="3430740" cy="1693909"/>
          </a:xfrm>
          <a:prstGeom prst="rect">
            <a:avLst/>
          </a:prstGeom>
        </p:spPr>
      </p:pic>
      <p:sp>
        <p:nvSpPr>
          <p:cNvPr id="3" name="Google Shape;178;p8">
            <a:extLst>
              <a:ext uri="{FF2B5EF4-FFF2-40B4-BE49-F238E27FC236}">
                <a16:creationId xmlns:a16="http://schemas.microsoft.com/office/drawing/2014/main" id="{DEBF304F-77EB-BA94-CD84-BF91A9CC35D2}"/>
              </a:ext>
            </a:extLst>
          </p:cNvPr>
          <p:cNvSpPr txBox="1">
            <a:spLocks/>
          </p:cNvSpPr>
          <p:nvPr/>
        </p:nvSpPr>
        <p:spPr>
          <a:xfrm>
            <a:off x="258304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  <p:sp>
        <p:nvSpPr>
          <p:cNvPr id="4" name="Google Shape;178;p8">
            <a:extLst>
              <a:ext uri="{FF2B5EF4-FFF2-40B4-BE49-F238E27FC236}">
                <a16:creationId xmlns:a16="http://schemas.microsoft.com/office/drawing/2014/main" id="{1A25B44F-3D72-A752-04D6-8C3086471959}"/>
              </a:ext>
            </a:extLst>
          </p:cNvPr>
          <p:cNvSpPr txBox="1">
            <a:spLocks/>
          </p:cNvSpPr>
          <p:nvPr/>
        </p:nvSpPr>
        <p:spPr>
          <a:xfrm>
            <a:off x="4891125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  <p:bldP spid="3" grpId="0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105450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 : </a:t>
            </a:r>
            <a:r>
              <a:rPr lang="fr-FR" sz="900" b="1" dirty="0"/>
              <a:t>plus l’air est chargé </a:t>
            </a:r>
            <a:r>
              <a:rPr lang="fr-FR" sz="900" dirty="0"/>
              <a:t>en vapeur d’eau / nuages, </a:t>
            </a:r>
            <a:r>
              <a:rPr lang="fr-FR" sz="900" b="1" dirty="0"/>
              <a:t>moins le rayonnement solaire </a:t>
            </a:r>
            <a:r>
              <a:rPr lang="fr-FR" sz="900" dirty="0"/>
              <a:t>atteint les panneaux. La valeur </a:t>
            </a:r>
            <a:r>
              <a:rPr lang="fr-FR" sz="900" b="1" dirty="0"/>
              <a:t>10.7 cm </a:t>
            </a:r>
            <a:r>
              <a:rPr lang="fr-FR" sz="900" dirty="0"/>
              <a:t>est </a:t>
            </a:r>
            <a:r>
              <a:rPr lang="fr-FR" sz="900" b="1" dirty="0"/>
              <a:t>un indice standard d’activité solaire</a:t>
            </a:r>
          </a:p>
          <a:p>
            <a:pPr>
              <a:spcBef>
                <a:spcPts val="200"/>
              </a:spcBef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00A3F10-64A4-99A8-2113-EEBBDD680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66" y="1149395"/>
            <a:ext cx="4174031" cy="2868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C10BE04-1AA9-616C-9AB5-9507462BB9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646" y="1156260"/>
            <a:ext cx="3595360" cy="28626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14649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Les prédictions ont une </a:t>
            </a:r>
            <a:r>
              <a:rPr lang="fr-FR" sz="900" b="1" dirty="0"/>
              <a:t>précision moyenne d’environ ± 5 points </a:t>
            </a:r>
            <a:r>
              <a:rPr lang="fr-FR" sz="900" dirty="0"/>
              <a:t>de pourcentage</a:t>
            </a:r>
          </a:p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</a:t>
            </a:r>
            <a:r>
              <a:rPr lang="fr-FR" sz="900" b="1" dirty="0"/>
              <a:t>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2" name="Image 1" descr="Une image contenant capture d’écran, diagramme, Tracé, conception">
            <a:extLst>
              <a:ext uri="{FF2B5EF4-FFF2-40B4-BE49-F238E27FC236}">
                <a16:creationId xmlns:a16="http://schemas.microsoft.com/office/drawing/2014/main" id="{BFC65734-9253-849D-5A6F-F7D5EA9D07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37" b="3975"/>
          <a:stretch>
            <a:fillRect/>
          </a:stretch>
        </p:blipFill>
        <p:spPr>
          <a:xfrm>
            <a:off x="5131783" y="1491050"/>
            <a:ext cx="3709114" cy="252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F42D4AB1-28C7-BB89-AEEE-DABEB2514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0" y="1491050"/>
            <a:ext cx="4199999" cy="252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7B8808C1-B8B8-4B15-49A1-106F1747C5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167938"/>
              </p:ext>
            </p:extLst>
          </p:nvPr>
        </p:nvGraphicFramePr>
        <p:xfrm>
          <a:off x="5715000" y="599647"/>
          <a:ext cx="3125895" cy="61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5667">
                  <a:extLst>
                    <a:ext uri="{9D8B030D-6E8A-4147-A177-3AD203B41FA5}">
                      <a16:colId xmlns:a16="http://schemas.microsoft.com/office/drawing/2014/main" val="467522551"/>
                    </a:ext>
                  </a:extLst>
                </a:gridCol>
                <a:gridCol w="585057">
                  <a:extLst>
                    <a:ext uri="{9D8B030D-6E8A-4147-A177-3AD203B41FA5}">
                      <a16:colId xmlns:a16="http://schemas.microsoft.com/office/drawing/2014/main" val="4215255045"/>
                    </a:ext>
                  </a:extLst>
                </a:gridCol>
                <a:gridCol w="585057">
                  <a:extLst>
                    <a:ext uri="{9D8B030D-6E8A-4147-A177-3AD203B41FA5}">
                      <a16:colId xmlns:a16="http://schemas.microsoft.com/office/drawing/2014/main" val="378134031"/>
                    </a:ext>
                  </a:extLst>
                </a:gridCol>
                <a:gridCol w="585057">
                  <a:extLst>
                    <a:ext uri="{9D8B030D-6E8A-4147-A177-3AD203B41FA5}">
                      <a16:colId xmlns:a16="http://schemas.microsoft.com/office/drawing/2014/main" val="478246532"/>
                    </a:ext>
                  </a:extLst>
                </a:gridCol>
                <a:gridCol w="585057">
                  <a:extLst>
                    <a:ext uri="{9D8B030D-6E8A-4147-A177-3AD203B41FA5}">
                      <a16:colId xmlns:a16="http://schemas.microsoft.com/office/drawing/2014/main" val="1955977169"/>
                    </a:ext>
                  </a:extLst>
                </a:gridCol>
              </a:tblGrid>
              <a:tr h="220189">
                <a:tc>
                  <a:txBody>
                    <a:bodyPr/>
                    <a:lstStyle/>
                    <a:p>
                      <a:r>
                        <a:rPr lang="fr-FR" sz="900" dirty="0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fr-FR" sz="900" b="1" i="0" u="none" strike="noStrike" cap="none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R²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934860"/>
                  </a:ext>
                </a:extLst>
              </a:tr>
              <a:tr h="384124">
                <a:tc>
                  <a:txBody>
                    <a:bodyPr/>
                    <a:lstStyle/>
                    <a:p>
                      <a:r>
                        <a:rPr lang="fr-FR" sz="900" dirty="0" err="1"/>
                        <a:t>Linear</a:t>
                      </a:r>
                      <a:endParaRPr lang="fr-FR" sz="900" dirty="0"/>
                    </a:p>
                    <a:p>
                      <a:r>
                        <a:rPr lang="fr-FR" sz="900" dirty="0" err="1"/>
                        <a:t>Regression</a:t>
                      </a:r>
                      <a:r>
                        <a:rPr lang="fr-FR" sz="900" dirty="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900" b="1" dirty="0">
                          <a:solidFill>
                            <a:srgbClr val="FF0000"/>
                          </a:solidFill>
                        </a:rPr>
                        <a:t>5.12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900" dirty="0"/>
                        <a:t>45.4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900" dirty="0"/>
                        <a:t>6.74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sz="900" dirty="0"/>
                        <a:t>0.795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539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7EBADD90-D1EF-EC8E-8DC6-B4363C67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ACEFFA36-2FB1-F4A7-2469-A60493547C8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D7944F08-C46B-F27E-7158-6931FF1418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81E51BF4-6992-3263-71CA-20887B074B0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F7C57B6-DF48-591E-513F-592521C1704F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09C407C9-5F17-8D57-D377-23DFE0693D48}"/>
              </a:ext>
            </a:extLst>
          </p:cNvPr>
          <p:cNvSpPr/>
          <p:nvPr/>
        </p:nvSpPr>
        <p:spPr>
          <a:xfrm>
            <a:off x="7500992" y="765913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90EF6EF-0FB3-7E2A-D542-2278633E1A3F}"/>
              </a:ext>
            </a:extLst>
          </p:cNvPr>
          <p:cNvSpPr txBox="1"/>
          <p:nvPr/>
        </p:nvSpPr>
        <p:spPr>
          <a:xfrm>
            <a:off x="7472169" y="809322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8A52E4F2-1D7C-51B1-DE52-6FB8760CC349}"/>
              </a:ext>
            </a:extLst>
          </p:cNvPr>
          <p:cNvCxnSpPr>
            <a:cxnSpLocks/>
          </p:cNvCxnSpPr>
          <p:nvPr/>
        </p:nvCxnSpPr>
        <p:spPr>
          <a:xfrm>
            <a:off x="6902308" y="936409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2BDCE2CF-B879-0D8F-F894-93FD712FBD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01" y="1244626"/>
            <a:ext cx="8112998" cy="348824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44436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</a:t>
            </a: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12E16B-A392-6E24-A2D3-8948C24A7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texte,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36374721-DBF6-6DC3-7F02-E2A019B58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2" y="1058637"/>
            <a:ext cx="5976983" cy="2111572"/>
          </a:xfrm>
          <a:prstGeom prst="rect">
            <a:avLst/>
          </a:prstGeom>
        </p:spPr>
      </p:pic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9F6F2A3B-E718-0677-1AF3-47945BA37F79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B282795F-CC32-9B21-2C73-46BD6A69497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D133BC4D-117A-A7BD-E1C1-78AEAF7CE4A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78;p8">
            <a:extLst>
              <a:ext uri="{FF2B5EF4-FFF2-40B4-BE49-F238E27FC236}">
                <a16:creationId xmlns:a16="http://schemas.microsoft.com/office/drawing/2014/main" id="{B4652961-82E1-E9F1-B367-5278489897BB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En cours : Amélioration du modèle</a:t>
            </a:r>
          </a:p>
        </p:txBody>
      </p:sp>
      <p:pic>
        <p:nvPicPr>
          <p:cNvPr id="12" name="Image 11" descr="Une image contenant texte, capture d’écran, ligne, Tracé">
            <a:extLst>
              <a:ext uri="{FF2B5EF4-FFF2-40B4-BE49-F238E27FC236}">
                <a16:creationId xmlns:a16="http://schemas.microsoft.com/office/drawing/2014/main" id="{D61A617B-D6B7-1A94-495F-DC4E85438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1357" y="2917309"/>
            <a:ext cx="5561813" cy="1974716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A0C660C5-C6B4-4D60-632C-38AA341D4E42}"/>
              </a:ext>
            </a:extLst>
          </p:cNvPr>
          <p:cNvSpPr/>
          <p:nvPr/>
        </p:nvSpPr>
        <p:spPr>
          <a:xfrm flipH="1">
            <a:off x="5962454" y="1835009"/>
            <a:ext cx="1202174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7B02442F-1F39-3A7F-A132-603CFB285A80}"/>
              </a:ext>
            </a:extLst>
          </p:cNvPr>
          <p:cNvSpPr/>
          <p:nvPr/>
        </p:nvSpPr>
        <p:spPr>
          <a:xfrm>
            <a:off x="1956062" y="3539452"/>
            <a:ext cx="1314240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Généralisation</a:t>
            </a:r>
          </a:p>
        </p:txBody>
      </p:sp>
    </p:spTree>
    <p:extLst>
      <p:ext uri="{BB962C8B-B14F-4D97-AF65-F5344CB8AC3E}">
        <p14:creationId xmlns:p14="http://schemas.microsoft.com/office/powerpoint/2010/main" val="1528976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85EE54CA-1CA7-BBB2-C3CA-7AD11745D0CB}"/>
              </a:ext>
            </a:extLst>
          </p:cNvPr>
          <p:cNvSpPr/>
          <p:nvPr/>
        </p:nvSpPr>
        <p:spPr>
          <a:xfrm>
            <a:off x="1799442" y="3228155"/>
            <a:ext cx="1485799" cy="54522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A33F078-F242-EE97-2251-526C53A316B8}"/>
              </a:ext>
            </a:extLst>
          </p:cNvPr>
          <p:cNvSpPr txBox="1"/>
          <p:nvPr/>
        </p:nvSpPr>
        <p:spPr>
          <a:xfrm>
            <a:off x="1799442" y="3300713"/>
            <a:ext cx="1485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 action="ppaction://hlinksldjump"/>
              </a:rPr>
              <a:t>Ressources projet en annexes</a:t>
            </a:r>
            <a:endParaRPr lang="fr-FR" sz="800" dirty="0"/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E56D7E92-4368-94BE-9AB2-02EC3C191FD2}"/>
              </a:ext>
            </a:extLst>
          </p:cNvPr>
          <p:cNvCxnSpPr>
            <a:cxnSpLocks/>
          </p:cNvCxnSpPr>
          <p:nvPr/>
        </p:nvCxnSpPr>
        <p:spPr>
          <a:xfrm>
            <a:off x="1200757" y="3500768"/>
            <a:ext cx="56986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68976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>
                          <a:solidFill>
                            <a:schemeClr val="bg1"/>
                          </a:solidFill>
                        </a:rPr>
                        <a:t>100</a:t>
                      </a:r>
                      <a:r>
                        <a:rPr sz="900" dirty="0">
                          <a:solidFill>
                            <a:schemeClr val="bg1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20/11/2025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En attente</a:t>
                      </a:r>
                      <a:endParaRPr sz="9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50%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695454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21/11/2025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100%</a:t>
                      </a:r>
                      <a:endParaRPr sz="9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25/11/2025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1931</TotalTime>
  <Words>1774</Words>
  <Application>Microsoft Office PowerPoint</Application>
  <PresentationFormat>Affichage à l'écran (16:9)</PresentationFormat>
  <Paragraphs>413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19</vt:i4>
      </vt:variant>
    </vt:vector>
  </HeadingPairs>
  <TitlesOfParts>
    <vt:vector size="27" baseType="lpstr">
      <vt:lpstr>Calibri</vt:lpstr>
      <vt:lpstr>Inter SemiBold</vt:lpstr>
      <vt:lpstr>Inter Medium</vt:lpstr>
      <vt:lpstr>Arial</vt:lpstr>
      <vt:lpstr>Wingdings</vt:lpstr>
      <vt:lpstr>Inter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Résultats du modèle</vt:lpstr>
      <vt:lpstr>Valeur ajoutée et perspectives</vt:lpstr>
      <vt:lpstr>Valeur ajoutée et perspectives</vt:lpstr>
      <vt:lpstr>Des questions ?</vt:lpstr>
      <vt:lpstr>Annexes</vt:lpstr>
      <vt:lpstr>Méthodologie projet (tâches et cadencement)</vt:lpstr>
      <vt:lpstr>Méthodologie projet (tâches et cadencement)</vt:lpstr>
      <vt:lpstr>Ressourses projet</vt:lpstr>
      <vt:lpstr>Sources de données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2026-02-15T09:41:21Z</dcterms:modified>
</cp:coreProperties>
</file>